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170" autoAdjust="0"/>
  </p:normalViewPr>
  <p:slideViewPr>
    <p:cSldViewPr snapToGrid="0">
      <p:cViewPr varScale="1">
        <p:scale>
          <a:sx n="64" d="100"/>
          <a:sy n="64" d="100"/>
        </p:scale>
        <p:origin x="1426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ACAFE-F6BE-4B98-9E71-019F3F52D32B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502EF-EABE-4D94-8CF9-CEA7B23FE7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6871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Willkommen zu unserem Projekt. Wir haben über 32.000 Kredite untersucht, um herauszufinden, wie Risiken besser gesteuert werden können. Ziel: Prozesse effizienter machen, Ausfälle früh erkennen und die Erträge absichern.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3877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Der Ablauf ist einfach: Erst Ausgangslage und Datenbereinigung, dann die beiden Hauptaufgaben und einige </a:t>
            </a:r>
            <a:r>
              <a:rPr lang="de-DE" dirty="0" err="1"/>
              <a:t>Insights</a:t>
            </a:r>
            <a:r>
              <a:rPr lang="de-DE" dirty="0"/>
              <a:t>. Am Ende Risiken, Chancen und klare Empfehlungen.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8335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Überwachung war teuer und nicht zielgerichtet. Bei der Vergabe gab es Zweifel, ob Regeln einheitlich angewendet werden. Aufgabe der Analyse: Transparenz schaffen und Steuerung verbessern.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0645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Dubletten verzerren Statistiken, fehlende Werte und falsche Zinsen führen zu Fehlinterpretationen. Die Bereinigung schafft eine stabile Grundlage, auf der Management-Entscheidungen verlässlich sind.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3326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Einteilung folgt einfachen, nachvollziehbaren Regeln. So wird der Überwachungsaufwand dorthin verlagert, wo er den größten Nutzen bringt – bei hohem und mittlerem Risiko.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6906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Etwa ein Viertel fällt in die Hochrisikogruppe und braucht engere Überwachung. Rund die Hälfte ist stabil – hier lässt sich der Aufwand senken, ohne die Sicherheit zu gefährden.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3346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Konditionen steuern Risiko und Ertrag. Erwartung: Schlechtere Noten zahlen höhere Zinsen. Wir prüfen, ob sich diese Logik in den Daten widerspiegelt.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9948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Der Trend passt: je schlechter die Bonität, desto höher der Zins. Kritisch sind Ausnahmen: große Kredite, die trotz schlechter Note zu günstig bepreist wurden. Hier drohen die größten Verluste.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6904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Je höher das Einkommen, desto stabiler die Rückzahlung. Niedrige Einkommen finden sich häufiger im Hochrisiko – ein starkes Signal für Kreditvergabe und Monitoring.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3741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meiste Volumen liegt bei A und B. Die Noten D–G tragen weniger Volumen, verursachen aber einen Großteil der Ausfälle – ein klarer Steuerungshebel.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7508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sehen wir die Wohnsituation nach </a:t>
            </a:r>
            <a:r>
              <a:rPr lang="de-DE" dirty="0" err="1"/>
              <a:t>Risikoklassen.Bei</a:t>
            </a:r>
            <a:r>
              <a:rPr lang="de-DE" dirty="0"/>
              <a:t> Hochrisiko-Kunden dominieren die Mieter mit 65 %, Eigentum ist deutlich </a:t>
            </a:r>
            <a:r>
              <a:rPr lang="de-DE" dirty="0" err="1"/>
              <a:t>geringer.Je</a:t>
            </a:r>
            <a:r>
              <a:rPr lang="de-DE" dirty="0"/>
              <a:t> niedriger das Risiko, desto stärker steigt der Anteil an Eigentum und </a:t>
            </a:r>
            <a:r>
              <a:rPr lang="de-DE" dirty="0" err="1"/>
              <a:t>Hypotheken.Das</a:t>
            </a:r>
            <a:r>
              <a:rPr lang="de-DE" dirty="0"/>
              <a:t> heißt: Eigentum ist ein klarer Stabilitätsfaktor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368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381FD-7210-CC21-F284-31A1BA25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0416525-2A03-B55E-1F07-72DBF198D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D047956-F1AA-B42E-3FD1-F55A8A898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Bei der Berufserfahrung sehen wir ein ähnliches </a:t>
            </a:r>
            <a:r>
              <a:rPr lang="de-DE" dirty="0" err="1"/>
              <a:t>Muster:Hochrisiko-Kunden</a:t>
            </a:r>
            <a:r>
              <a:rPr lang="de-DE" dirty="0"/>
              <a:t> haben im Schnitt 4,4 Jahre Erfahrung, mittleres Risiko 4,7 Jahre, geringes Risiko 5 </a:t>
            </a:r>
            <a:r>
              <a:rPr lang="de-DE" dirty="0" err="1"/>
              <a:t>Jahre.Schon</a:t>
            </a:r>
            <a:r>
              <a:rPr lang="de-DE" dirty="0"/>
              <a:t> ein halbes Jahr Unterschied wirkt sich hier </a:t>
            </a:r>
            <a:r>
              <a:rPr lang="de-DE" dirty="0" err="1"/>
              <a:t>aus.Mehr</a:t>
            </a:r>
            <a:r>
              <a:rPr lang="de-DE" dirty="0"/>
              <a:t> Berufserfahrung senkt das Risiko.“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BA8EED-2237-13C9-413C-4BAA8E177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58440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Sprechernotiz:</a:t>
            </a:r>
            <a:br>
              <a:rPr lang="de-DE" dirty="0"/>
            </a:br>
            <a:r>
              <a:rPr lang="de-DE" dirty="0"/>
              <a:t>Konsequente Regeln reduzieren Verluste und sparen Kosten. </a:t>
            </a:r>
            <a:r>
              <a:rPr lang="de-DE" dirty="0" err="1"/>
              <a:t>Red</a:t>
            </a:r>
            <a:r>
              <a:rPr lang="de-DE" dirty="0"/>
              <a:t>-</a:t>
            </a:r>
            <a:r>
              <a:rPr lang="de-DE" dirty="0" err="1"/>
              <a:t>Flag</a:t>
            </a:r>
            <a:r>
              <a:rPr lang="de-DE" dirty="0"/>
              <a:t>-Reports ermöglichen frühzeitige Gegenmaßnahmen. Das alles steigert die Ertragsstabilität.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1591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</a:t>
            </a:r>
            <a:r>
              <a:rPr lang="de-DE" dirty="0" err="1"/>
              <a:t>To</a:t>
            </a:r>
            <a:r>
              <a:rPr lang="de-DE" dirty="0"/>
              <a:t>-dos sind klar: Monitoring nach Risiko priorisieren, Pricing-Korridore konsequent einhalten und </a:t>
            </a:r>
            <a:r>
              <a:rPr lang="de-DE" dirty="0" err="1"/>
              <a:t>Red</a:t>
            </a:r>
            <a:r>
              <a:rPr lang="de-DE" dirty="0"/>
              <a:t>-</a:t>
            </a:r>
            <a:r>
              <a:rPr lang="de-DE" dirty="0" err="1"/>
              <a:t>Flag</a:t>
            </a:r>
            <a:r>
              <a:rPr lang="de-DE" dirty="0"/>
              <a:t>-Reports etablieren. So sinken Kosten, Risiken werden früh erkannt und der Ertrag stabilisiert sich.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502EF-EABE-4D94-8CF9-CEA7B23FE798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4346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9213-E6F7-4850-9074-6AB52E9F9FCA}" type="datetime1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000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6C92-4E6F-4870-BBBD-F865ACB7BAF4}" type="datetime1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199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C6AD-3AC6-4C3F-B967-3592E76877B3}" type="datetime1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6550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8D59F-DE57-4B2E-A785-C43E68B196D4}" type="datetime1">
              <a:rPr lang="de-DE" smtClean="0"/>
              <a:t>09.09.2025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4967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84ED-44B8-443E-9163-132B402D9021}" type="datetime1">
              <a:rPr lang="de-DE" smtClean="0"/>
              <a:t>09.09.2025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2168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F555A-8542-4410-95F5-B878245A8BBD}" type="datetime1">
              <a:rPr lang="de-DE" smtClean="0"/>
              <a:t>09.09.2025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189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2A73-478B-4DEF-B3F5-37DCDAB9A9FB}" type="datetime1">
              <a:rPr lang="de-DE" smtClean="0"/>
              <a:t>09.09.2025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5737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5843-341D-4581-8413-527FDB842ADD}" type="datetime1">
              <a:rPr lang="de-DE" smtClean="0"/>
              <a:t>09.09.2025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7453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69C2E-8F65-42A3-8FDF-A7504BD8618F}" type="datetime1">
              <a:rPr lang="de-DE" smtClean="0"/>
              <a:t>09.09.2025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42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3E69-B57E-4744-8544-0ABE63C6DA0D}" type="datetime1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60401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3E69-B57E-4744-8544-0ABE63C6DA0D}" type="datetime1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718572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3E69-B57E-4744-8544-0ABE63C6DA0D}" type="datetime1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12807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3E69-B57E-4744-8544-0ABE63C6DA0D}" type="datetime1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216004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3E69-B57E-4744-8544-0ABE63C6DA0D}" type="datetime1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11572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BABA-2803-4AD1-BE73-C1E342C6AF04}" type="datetime1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9610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A7299-0785-47C5-86C2-B60559ACB061}" type="datetime1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4827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F3E69-B57E-4744-8544-0ABE63C6DA0D}" type="datetime1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692EC60-8865-4E9B-A27A-36A8A6A951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164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86E549-3752-1CD9-D394-F421BAE90E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/>
              <a:t>Projekt A: Datenanalyse für Kreditrisiken</a:t>
            </a:r>
            <a:br>
              <a:rPr lang="de-DE" dirty="0"/>
            </a:br>
            <a:r>
              <a:rPr lang="de-DE" sz="4400" i="1" dirty="0"/>
              <a:t>Von den Rohdaten zur Management-Empfehlung</a:t>
            </a:r>
            <a:endParaRPr lang="de-DE" sz="44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52BB06A-8489-5739-2496-31E3EF72D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06" y="6128670"/>
            <a:ext cx="6645442" cy="729330"/>
          </a:xfrm>
        </p:spPr>
        <p:txBody>
          <a:bodyPr/>
          <a:lstStyle/>
          <a:p>
            <a:pPr algn="l"/>
            <a:r>
              <a:rPr lang="de-DE" b="1" dirty="0"/>
              <a:t>Diese Analyse basiert auf über 32.000 Krediten und schafft Transparenz für bessere Entscheidungen.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4F5431-6B44-9882-B380-A00FEE43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09303" y="6400800"/>
            <a:ext cx="1356002" cy="324853"/>
          </a:xfrm>
        </p:spPr>
        <p:txBody>
          <a:bodyPr/>
          <a:lstStyle/>
          <a:p>
            <a:r>
              <a:rPr lang="de-DE" sz="1100" b="1" dirty="0">
                <a:solidFill>
                  <a:schemeClr val="tx1"/>
                </a:solidFill>
              </a:rPr>
              <a:t>Michael Hornung </a:t>
            </a:r>
          </a:p>
        </p:txBody>
      </p:sp>
    </p:spTree>
    <p:extLst>
      <p:ext uri="{BB962C8B-B14F-4D97-AF65-F5344CB8AC3E}">
        <p14:creationId xmlns:p14="http://schemas.microsoft.com/office/powerpoint/2010/main" val="817967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2F589-F70B-BD04-148A-CE20387C5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b="1" dirty="0"/>
              <a:t>Agenda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50DB6B-05E1-E23F-96E9-0929FBD755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78486"/>
            <a:ext cx="6660991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tabLst/>
            </a:pPr>
            <a:r>
              <a:rPr lang="de-DE" altLang="de-DE" dirty="0"/>
              <a:t>Ausgangssituation &amp; Zielsetzung</a:t>
            </a:r>
          </a:p>
          <a:p>
            <a:pPr marR="0" lvl="0" fontAlgn="base">
              <a:tabLst/>
            </a:pPr>
            <a:r>
              <a:rPr lang="de-DE" altLang="de-DE" dirty="0"/>
              <a:t>Datenbereinigung &amp; Vorbereitung</a:t>
            </a:r>
          </a:p>
          <a:p>
            <a:pPr marR="0" lvl="0" fontAlgn="base">
              <a:tabLst/>
            </a:pPr>
            <a:r>
              <a:rPr lang="de-DE" altLang="de-DE" dirty="0"/>
              <a:t>Aufgabe 1: Kreditüberwachung</a:t>
            </a:r>
          </a:p>
          <a:p>
            <a:pPr marR="0" lvl="0" fontAlgn="base">
              <a:tabLst/>
            </a:pPr>
            <a:r>
              <a:rPr lang="de-DE" altLang="de-DE" dirty="0"/>
              <a:t>Aufgabe 2: Kreditvergabe &amp; Pricing</a:t>
            </a:r>
          </a:p>
          <a:p>
            <a:pPr marR="0" lvl="0" fontAlgn="base">
              <a:tabLst/>
            </a:pPr>
            <a:r>
              <a:rPr lang="de-DE" altLang="de-DE" dirty="0"/>
              <a:t>Zusatz-</a:t>
            </a:r>
            <a:r>
              <a:rPr lang="de-DE" altLang="de-DE" dirty="0" err="1"/>
              <a:t>Insights</a:t>
            </a:r>
            <a:r>
              <a:rPr lang="de-DE" altLang="de-DE" dirty="0"/>
              <a:t> (Einkommen, Volumen, Wohnen, Erfahrung)</a:t>
            </a:r>
          </a:p>
          <a:p>
            <a:pPr marR="0" lvl="0" fontAlgn="base">
              <a:tabLst/>
            </a:pPr>
            <a:r>
              <a:rPr lang="de-DE" altLang="de-DE" dirty="0"/>
              <a:t>Risiken &amp; Chancen</a:t>
            </a:r>
          </a:p>
          <a:p>
            <a:pPr marR="0" lvl="0" fontAlgn="base">
              <a:tabLst/>
            </a:pPr>
            <a:r>
              <a:rPr lang="de-DE" altLang="de-DE" dirty="0"/>
              <a:t>Empfehlungen &amp; Fazit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de-DE" altLang="de-DE" sz="1800" dirty="0">
              <a:latin typeface="Arial" panose="020B0604020202020204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7793AA-D503-04B0-73A0-B3415D0B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2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1A01052-1B24-E84D-2B01-5550CD971158}"/>
              </a:ext>
            </a:extLst>
          </p:cNvPr>
          <p:cNvSpPr txBox="1"/>
          <p:nvPr/>
        </p:nvSpPr>
        <p:spPr>
          <a:xfrm>
            <a:off x="477252" y="6488668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Von der Problemstellung bis zur Lösung.</a:t>
            </a:r>
          </a:p>
        </p:txBody>
      </p:sp>
    </p:spTree>
    <p:extLst>
      <p:ext uri="{BB962C8B-B14F-4D97-AF65-F5344CB8AC3E}">
        <p14:creationId xmlns:p14="http://schemas.microsoft.com/office/powerpoint/2010/main" val="3052334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2B2D7-BA8F-A68E-4E0D-B5521879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Ausgangssituation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A33DA8-7421-1B7D-9226-773D1F07A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0143"/>
            <a:ext cx="10515600" cy="1603375"/>
          </a:xfrm>
        </p:spPr>
        <p:txBody>
          <a:bodyPr/>
          <a:lstStyle/>
          <a:p>
            <a:r>
              <a:rPr lang="de-DE" dirty="0"/>
              <a:t>Überwachung zu teuer und nicht differenziert</a:t>
            </a:r>
          </a:p>
          <a:p>
            <a:r>
              <a:rPr lang="de-DE" dirty="0"/>
              <a:t>Kreditvergabe &amp; Pricing uneinheitlich</a:t>
            </a:r>
          </a:p>
          <a:p>
            <a:r>
              <a:rPr lang="de-DE" dirty="0"/>
              <a:t>Ziel: datenbasierte Steuerung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3DA994-ADB7-BB9D-7279-EEDDE419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3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6F0FE94-8A4F-6631-0530-F593EC0827E6}"/>
              </a:ext>
            </a:extLst>
          </p:cNvPr>
          <p:cNvSpPr txBox="1"/>
          <p:nvPr/>
        </p:nvSpPr>
        <p:spPr>
          <a:xfrm>
            <a:off x="421994" y="6211669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Der Vorstand fordert eine klarere, effizientere Steuerung, die sich auf Daten stützt.</a:t>
            </a:r>
          </a:p>
        </p:txBody>
      </p:sp>
    </p:spTree>
    <p:extLst>
      <p:ext uri="{BB962C8B-B14F-4D97-AF65-F5344CB8AC3E}">
        <p14:creationId xmlns:p14="http://schemas.microsoft.com/office/powerpoint/2010/main" val="2956616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8067E-9AAB-FE4E-65BC-0ACBA37C2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Datenbereinigung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7EB92F-1241-7765-D7A1-F4693A7B9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1718"/>
            <a:ext cx="8596668" cy="2385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Maßnahmen und Ergebnisse:</a:t>
            </a:r>
          </a:p>
          <a:p>
            <a:r>
              <a:rPr lang="de-DE" dirty="0"/>
              <a:t>Dubletten entfernt: 165 Datensätze</a:t>
            </a:r>
          </a:p>
          <a:p>
            <a:r>
              <a:rPr lang="de-DE" dirty="0"/>
              <a:t>Fehlende Werte ersetzt: 4.011 Felder (z. B. Berufserfahrung: 895)</a:t>
            </a:r>
          </a:p>
          <a:p>
            <a:r>
              <a:rPr lang="de-DE" dirty="0"/>
              <a:t>Zinssätze korrigiert</a:t>
            </a:r>
          </a:p>
          <a:p>
            <a:r>
              <a:rPr lang="de-DE" dirty="0"/>
              <a:t>Alter unverändert: keine Anpassungen notwendig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C7F953-8812-CD58-F21C-26D5E32A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4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E06312C-A238-1828-ADF9-829AC174A039}"/>
              </a:ext>
            </a:extLst>
          </p:cNvPr>
          <p:cNvSpPr txBox="1"/>
          <p:nvPr/>
        </p:nvSpPr>
        <p:spPr>
          <a:xfrm>
            <a:off x="409962" y="5934670"/>
            <a:ext cx="60939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Die ursprünglichen Daten enthielten Dubletten und fehlende Werte, die bereinigt wurden. Damit entstand eine stabile und zuverlässige Basis für die Analyse.</a:t>
            </a:r>
          </a:p>
        </p:txBody>
      </p:sp>
    </p:spTree>
    <p:extLst>
      <p:ext uri="{BB962C8B-B14F-4D97-AF65-F5344CB8AC3E}">
        <p14:creationId xmlns:p14="http://schemas.microsoft.com/office/powerpoint/2010/main" val="3740032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4335DA-5E28-6822-48D2-A98CDF565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Aufgabe 1: Kreditüberwachung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B6DE42-B54F-DAA9-FBC2-D2318E8F0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4334"/>
            <a:ext cx="10515600" cy="2156828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Kriterien zur Einteilung:</a:t>
            </a:r>
            <a:endParaRPr lang="de-DE" dirty="0"/>
          </a:p>
          <a:p>
            <a:r>
              <a:rPr lang="de-DE" dirty="0"/>
              <a:t>Hohes Risiko: Ausfall oder Schufa-Vormerkung</a:t>
            </a:r>
          </a:p>
          <a:p>
            <a:r>
              <a:rPr lang="de-DE" dirty="0"/>
              <a:t>Mittleres Risiko: </a:t>
            </a:r>
            <a:r>
              <a:rPr lang="de-DE" dirty="0" err="1"/>
              <a:t>Debt</a:t>
            </a:r>
            <a:r>
              <a:rPr lang="de-DE" dirty="0"/>
              <a:t>-</a:t>
            </a:r>
            <a:r>
              <a:rPr lang="de-DE" dirty="0" err="1"/>
              <a:t>to</a:t>
            </a:r>
            <a:r>
              <a:rPr lang="de-DE" dirty="0"/>
              <a:t>-Income-Quote über 50 Prozent</a:t>
            </a:r>
          </a:p>
          <a:p>
            <a:r>
              <a:rPr lang="de-DE" dirty="0"/>
              <a:t>Geringes Risiko: alle übrigen Fälle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3D2064-8A85-BB2C-88A0-E510E2B4F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5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FEB4D15-7133-EA0A-652D-1BE9A3431070}"/>
              </a:ext>
            </a:extLst>
          </p:cNvPr>
          <p:cNvSpPr txBox="1"/>
          <p:nvPr/>
        </p:nvSpPr>
        <p:spPr>
          <a:xfrm>
            <a:off x="424671" y="6223924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Die Klassifizierung folgt klaren Regeln, die Risiko und Überwachung nachvollziehbar machen.</a:t>
            </a:r>
          </a:p>
        </p:txBody>
      </p:sp>
    </p:spTree>
    <p:extLst>
      <p:ext uri="{BB962C8B-B14F-4D97-AF65-F5344CB8AC3E}">
        <p14:creationId xmlns:p14="http://schemas.microsoft.com/office/powerpoint/2010/main" val="962558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C54137-B409-EB69-C90D-4F07D7BE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Erkenntnisse zu Aufgabe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1AE79E-EF26-03BF-26D2-0237FBC47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87" y="2573982"/>
            <a:ext cx="3942791" cy="1498600"/>
          </a:xfrm>
        </p:spPr>
        <p:txBody>
          <a:bodyPr>
            <a:normAutofit/>
          </a:bodyPr>
          <a:lstStyle/>
          <a:p>
            <a:r>
              <a:rPr lang="de-DE" b="1" dirty="0"/>
              <a:t>Hohes Risiko:</a:t>
            </a:r>
            <a:r>
              <a:rPr lang="de-DE" dirty="0"/>
              <a:t> 25 % (≈ 8.000)</a:t>
            </a:r>
          </a:p>
          <a:p>
            <a:r>
              <a:rPr lang="de-DE" b="1" dirty="0"/>
              <a:t>Mittleres Risiko:</a:t>
            </a:r>
            <a:r>
              <a:rPr lang="de-DE" dirty="0"/>
              <a:t> 30 % (≈ 9.700)</a:t>
            </a:r>
          </a:p>
          <a:p>
            <a:r>
              <a:rPr lang="de-DE" b="1" dirty="0"/>
              <a:t>Geringes Risiko:</a:t>
            </a:r>
            <a:r>
              <a:rPr lang="de-DE" dirty="0"/>
              <a:t> 45 % (≈ 14.700)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6B1B8C-C844-1C0D-2AB5-A6C9F199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6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F7A832E-1C1B-C5E4-AEB1-D10DA5809FE9}"/>
              </a:ext>
            </a:extLst>
          </p:cNvPr>
          <p:cNvSpPr txBox="1"/>
          <p:nvPr/>
        </p:nvSpPr>
        <p:spPr>
          <a:xfrm>
            <a:off x="434025" y="6488668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Ein Viertel aller Kredite ist risikoreich.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CB51ED4-3025-9A45-31D5-95C65838B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789" y="1819442"/>
            <a:ext cx="4844321" cy="320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135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A9D48D-5DF3-99DA-EAD8-9167D6B8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Aufgabe 2: Kreditvergabe &amp; Pricing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117391-DA45-7FF6-F749-12F19E997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8870"/>
            <a:ext cx="10515600" cy="1940259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Fragestellung:</a:t>
            </a:r>
          </a:p>
          <a:p>
            <a:pPr marL="0" indent="0">
              <a:buNone/>
            </a:pPr>
            <a:endParaRPr lang="de-DE" b="1" dirty="0"/>
          </a:p>
          <a:p>
            <a:r>
              <a:rPr lang="de-DE" dirty="0"/>
              <a:t>Werden Kredite fair und risikosensitiv vergeben?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8B0DF3-43A1-5242-FA0F-F71B9554F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7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5C0054C-2ACC-385F-1381-7CE90F16C4D1}"/>
              </a:ext>
            </a:extLst>
          </p:cNvPr>
          <p:cNvSpPr txBox="1"/>
          <p:nvPr/>
        </p:nvSpPr>
        <p:spPr>
          <a:xfrm>
            <a:off x="376545" y="6223924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Das Pricing sollte die Bonität widerspiegeln und damit Ertrag und Sicherheit zugleich sichern.</a:t>
            </a:r>
          </a:p>
        </p:txBody>
      </p:sp>
    </p:spTree>
    <p:extLst>
      <p:ext uri="{BB962C8B-B14F-4D97-AF65-F5344CB8AC3E}">
        <p14:creationId xmlns:p14="http://schemas.microsoft.com/office/powerpoint/2010/main" val="2710910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232B246-253E-B705-B013-30C8F6919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931" y="1930400"/>
            <a:ext cx="4960953" cy="327927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813E9A0-6D93-BA3F-DA2C-AF84457E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Ergebnisse Aufgabe 2 (Zinsen und Ausfälle)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4AD678-144D-6B49-F3A4-3BB732CD5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405" y="2004382"/>
            <a:ext cx="3394184" cy="3097007"/>
          </a:xfrm>
        </p:spPr>
        <p:txBody>
          <a:bodyPr/>
          <a:lstStyle/>
          <a:p>
            <a:r>
              <a:rPr lang="de-DE" b="1" dirty="0"/>
              <a:t>Durchschnittszins Note A</a:t>
            </a:r>
            <a:r>
              <a:rPr lang="de-DE" dirty="0"/>
              <a:t>: 8 % – Ausfallquote 10 %</a:t>
            </a:r>
          </a:p>
          <a:p>
            <a:r>
              <a:rPr lang="de-DE" b="1" dirty="0"/>
              <a:t>Durchschnittszins Note C</a:t>
            </a:r>
            <a:r>
              <a:rPr lang="de-DE" dirty="0"/>
              <a:t>: 13 % – Ausfallquote 48 %</a:t>
            </a:r>
          </a:p>
          <a:p>
            <a:r>
              <a:rPr lang="de-DE" b="1" dirty="0"/>
              <a:t>Durchschnittszins Note G</a:t>
            </a:r>
            <a:r>
              <a:rPr lang="de-DE" dirty="0"/>
              <a:t>: 19 % – Ausfallquote 98 %</a:t>
            </a:r>
          </a:p>
          <a:p>
            <a:r>
              <a:rPr lang="de-DE" b="1" dirty="0"/>
              <a:t>2 bis 3 % </a:t>
            </a:r>
            <a:r>
              <a:rPr lang="de-DE" b="1" dirty="0" err="1"/>
              <a:t>Red</a:t>
            </a:r>
            <a:r>
              <a:rPr lang="de-DE" b="1" dirty="0"/>
              <a:t> Flags</a:t>
            </a:r>
            <a:r>
              <a:rPr lang="de-DE" dirty="0"/>
              <a:t>: Großkredite über 20.000 € mit Zins unter 10 %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745E92-7979-A8F4-DF83-3705D682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8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E0DCF90-C5D6-4178-2B9E-F680B0121A34}"/>
              </a:ext>
            </a:extLst>
          </p:cNvPr>
          <p:cNvSpPr txBox="1"/>
          <p:nvPr/>
        </p:nvSpPr>
        <p:spPr>
          <a:xfrm>
            <a:off x="393032" y="5944822"/>
            <a:ext cx="61280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Der Trend stimmt, aber gefährliche Ausnahmen bei großen Krediten mit niedrigen Zinsen stellen ein erhebliches Risiko dar.</a:t>
            </a:r>
          </a:p>
        </p:txBody>
      </p:sp>
    </p:spTree>
    <p:extLst>
      <p:ext uri="{BB962C8B-B14F-4D97-AF65-F5344CB8AC3E}">
        <p14:creationId xmlns:p14="http://schemas.microsoft.com/office/powerpoint/2010/main" val="425714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9E0465EA-24D5-0C1E-6C7B-2EDC1FEF1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243" y="1930400"/>
            <a:ext cx="4777051" cy="318168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0C27BA2-137A-5E06-5AA7-863325E76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Zusatz-Insight: Einkommen je Risikoklasse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37F233-5F43-63BB-5CA5-E34507DB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712"/>
            <a:ext cx="3878179" cy="2060575"/>
          </a:xfrm>
        </p:spPr>
        <p:txBody>
          <a:bodyPr/>
          <a:lstStyle/>
          <a:p>
            <a:r>
              <a:rPr lang="de-DE" b="1" dirty="0"/>
              <a:t>Durchschnitt gesamt:</a:t>
            </a:r>
            <a:r>
              <a:rPr lang="de-DE" dirty="0"/>
              <a:t> 66.092 €</a:t>
            </a:r>
          </a:p>
          <a:p>
            <a:r>
              <a:rPr lang="de-DE" b="1" dirty="0"/>
              <a:t>Hohes Risiko:</a:t>
            </a:r>
            <a:r>
              <a:rPr lang="de-DE" dirty="0"/>
              <a:t> 56.837 €</a:t>
            </a:r>
          </a:p>
          <a:p>
            <a:r>
              <a:rPr lang="de-DE" b="1" dirty="0"/>
              <a:t>Mittleres Risiko:</a:t>
            </a:r>
            <a:r>
              <a:rPr lang="de-DE" dirty="0"/>
              <a:t> 63.000 €</a:t>
            </a:r>
          </a:p>
          <a:p>
            <a:r>
              <a:rPr lang="de-DE" b="1" dirty="0"/>
              <a:t>Geringes Risiko:</a:t>
            </a:r>
            <a:r>
              <a:rPr lang="de-DE" dirty="0"/>
              <a:t> 70.695 €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6A7ACE-EF6A-7D83-E866-1D82C338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9</a:t>
            </a:fld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6AECFC7-FE3A-B6E5-38B4-1C00C2E215D4}"/>
              </a:ext>
            </a:extLst>
          </p:cNvPr>
          <p:cNvSpPr txBox="1"/>
          <p:nvPr/>
        </p:nvSpPr>
        <p:spPr>
          <a:xfrm>
            <a:off x="448176" y="640648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Einkommen beeinflusst die Stabilität deutlich.</a:t>
            </a:r>
          </a:p>
        </p:txBody>
      </p:sp>
    </p:spTree>
    <p:extLst>
      <p:ext uri="{BB962C8B-B14F-4D97-AF65-F5344CB8AC3E}">
        <p14:creationId xmlns:p14="http://schemas.microsoft.com/office/powerpoint/2010/main" val="1940937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5AE2AAC-B105-5F6D-030E-2C66ED85C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294" y="1546058"/>
            <a:ext cx="4694426" cy="394705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73F5EFD-0529-8BD2-9B7B-DA8581928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Zusatz-Insight: Kreditvolumen je Note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F31145-EC3F-CA9C-71E2-210CE00CF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0400"/>
            <a:ext cx="4118811" cy="2241049"/>
          </a:xfrm>
        </p:spPr>
        <p:txBody>
          <a:bodyPr/>
          <a:lstStyle/>
          <a:p>
            <a:r>
              <a:rPr lang="de-DE" b="1" dirty="0"/>
              <a:t>Gesamtvolumen:</a:t>
            </a:r>
            <a:r>
              <a:rPr lang="de-DE" dirty="0"/>
              <a:t> 311 Mio. €</a:t>
            </a:r>
          </a:p>
          <a:p>
            <a:r>
              <a:rPr lang="de-DE" b="1" dirty="0"/>
              <a:t>Note A &amp; B:</a:t>
            </a:r>
            <a:r>
              <a:rPr lang="de-DE" dirty="0"/>
              <a:t> 60 % (≈ 186 Mio. €)</a:t>
            </a:r>
          </a:p>
          <a:p>
            <a:r>
              <a:rPr lang="de-DE" b="1" dirty="0"/>
              <a:t>Note C:</a:t>
            </a:r>
            <a:r>
              <a:rPr lang="de-DE" dirty="0"/>
              <a:t> 23 % (≈ 71 Mio. €)</a:t>
            </a:r>
          </a:p>
          <a:p>
            <a:r>
              <a:rPr lang="de-DE" b="1" dirty="0"/>
              <a:t>Noten D–G:</a:t>
            </a:r>
            <a:r>
              <a:rPr lang="de-DE" dirty="0"/>
              <a:t> 17 % (≈ 53 Mio. €, aber &gt; 60 % der Ausfälle)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C034DF-25CE-D104-1E5F-51366A36D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10</a:t>
            </a:fld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0E1ACC9-2FF2-1353-1B66-C3BEE4523220}"/>
              </a:ext>
            </a:extLst>
          </p:cNvPr>
          <p:cNvSpPr txBox="1"/>
          <p:nvPr/>
        </p:nvSpPr>
        <p:spPr>
          <a:xfrm>
            <a:off x="465221" y="5934670"/>
            <a:ext cx="60939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Das Kreditvolumen konzentriert sich auf sichere Kunden, doch die hohen Ausfälle entstehen bei den riskanteren Noten.</a:t>
            </a:r>
          </a:p>
        </p:txBody>
      </p:sp>
    </p:spTree>
    <p:extLst>
      <p:ext uri="{BB962C8B-B14F-4D97-AF65-F5344CB8AC3E}">
        <p14:creationId xmlns:p14="http://schemas.microsoft.com/office/powerpoint/2010/main" val="3054928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6969E3-3CED-C637-95E1-DCE85F735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Zusatz-</a:t>
            </a:r>
            <a:r>
              <a:rPr lang="de-DE" dirty="0" err="1"/>
              <a:t>Insights</a:t>
            </a:r>
            <a:r>
              <a:rPr lang="de-DE" dirty="0"/>
              <a:t>: Wohnen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BB38FC7-A469-C34D-A5EF-5C4257D33F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5807" y="1228912"/>
            <a:ext cx="8596668" cy="239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de-DE" b="1" dirty="0"/>
              <a:t>Wohnen:</a:t>
            </a:r>
            <a:endParaRPr lang="de-DE" dirty="0"/>
          </a:p>
          <a:p>
            <a:r>
              <a:rPr lang="de-DE" dirty="0"/>
              <a:t>Hochrisiko: 65 % Mieter, 20 % Hypothek, 15 % Eigentum</a:t>
            </a:r>
          </a:p>
          <a:p>
            <a:r>
              <a:rPr lang="de-DE" dirty="0"/>
              <a:t>Mittleres Risiko: 55 % Mieter, 25 % Hypothek, 20 % Eigentum</a:t>
            </a:r>
          </a:p>
          <a:p>
            <a:r>
              <a:rPr lang="de-DE" dirty="0"/>
              <a:t>Geringes Risiko: 45 % Mieter, 30 % Hypothek, 25 % Eigentum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E9C6DA-C3E7-7FF6-BFA5-5F44302E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11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ECB6DDF-88B2-E8A2-0A4D-5A4C3AF3F711}"/>
              </a:ext>
            </a:extLst>
          </p:cNvPr>
          <p:cNvSpPr txBox="1"/>
          <p:nvPr/>
        </p:nvSpPr>
        <p:spPr>
          <a:xfrm>
            <a:off x="417094" y="6211669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Hochrisiko-Kunden sind häufiger Mieter, während geringes Risiko mehr Eigentum zeigt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42B20B0-5F74-62BD-EBE9-35F26247D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832" y="2886335"/>
            <a:ext cx="4319386" cy="285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6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40FFA-A169-E9A7-66AA-CBA21E82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99D617-595E-7DC7-6D52-6B1C7F7A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Zusatz-</a:t>
            </a:r>
            <a:r>
              <a:rPr lang="de-DE" dirty="0" err="1"/>
              <a:t>Insights</a:t>
            </a:r>
            <a:r>
              <a:rPr lang="de-DE" dirty="0"/>
              <a:t>: Erfahrung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042F28-61C7-4F4B-0C0E-8D43AA5CC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12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8E6E846-4497-C358-3D30-F2304ED3A3CA}"/>
              </a:ext>
            </a:extLst>
          </p:cNvPr>
          <p:cNvSpPr txBox="1"/>
          <p:nvPr/>
        </p:nvSpPr>
        <p:spPr>
          <a:xfrm>
            <a:off x="405063" y="6223924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Mit zunehmender Erfahrung sinkt das Risiko: Hochrisiko 4,4 Jahre, Geringes Risiko 5,0 Jahre.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309BDD4-C4C3-CBB2-0148-B41E3462F296}"/>
              </a:ext>
            </a:extLst>
          </p:cNvPr>
          <p:cNvSpPr txBox="1"/>
          <p:nvPr/>
        </p:nvSpPr>
        <p:spPr>
          <a:xfrm>
            <a:off x="677334" y="2352561"/>
            <a:ext cx="3761428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Berufserfahrung durchschn.: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Hochrisiko: 4,4 Jahre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Mittleres Risiko: 4,7 Jahre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Geringes Risiko: 5,0 Jahre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D0716FD-1114-3735-F3DC-EA6BA97C5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162" y="1609404"/>
            <a:ext cx="5410161" cy="357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70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70D5A5-A7AD-4B4D-44B5-197A0575E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Risiken &amp; Chancen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DADD8C-594B-D1C2-19E3-19C48D86C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5070"/>
            <a:ext cx="4067678" cy="2327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Risiken:</a:t>
            </a:r>
            <a:endParaRPr lang="de-DE" dirty="0"/>
          </a:p>
          <a:p>
            <a:r>
              <a:rPr lang="de-DE" dirty="0"/>
              <a:t>Hohe Verluste bei Fehlvergabe</a:t>
            </a:r>
          </a:p>
          <a:p>
            <a:r>
              <a:rPr lang="de-DE" dirty="0"/>
              <a:t>Hohe Kosten in der Überwachung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4B06FF-3A72-419B-AA59-6BEB50F0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13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C216F22-B782-7EB2-DA42-71621635FB2D}"/>
              </a:ext>
            </a:extLst>
          </p:cNvPr>
          <p:cNvSpPr txBox="1"/>
          <p:nvPr/>
        </p:nvSpPr>
        <p:spPr>
          <a:xfrm>
            <a:off x="458088" y="6211669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Die Analyse zeigt Risiken klar auf, eröffnet aber auch große Chancen für Effizienz und Ertrag.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ED068A4-1548-5BDE-E4A6-298AF6629A30}"/>
              </a:ext>
            </a:extLst>
          </p:cNvPr>
          <p:cNvSpPr txBox="1"/>
          <p:nvPr/>
        </p:nvSpPr>
        <p:spPr>
          <a:xfrm>
            <a:off x="5117989" y="2265070"/>
            <a:ext cx="485619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Chancen: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Kostensenkung durch Differenzierung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Mehr Ertrag durch konsequentes Pricing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Frühe Warnungen durch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Flag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-Reports</a:t>
            </a:r>
          </a:p>
        </p:txBody>
      </p:sp>
    </p:spTree>
    <p:extLst>
      <p:ext uri="{BB962C8B-B14F-4D97-AF65-F5344CB8AC3E}">
        <p14:creationId xmlns:p14="http://schemas.microsoft.com/office/powerpoint/2010/main" val="1661018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44B56-AA37-C837-68EA-47718094B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Empfehlungen &amp; 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E43495-4785-E0A2-EB4A-EC26CD4F6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308475"/>
            <a:ext cx="10515600" cy="2241049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Empfehlungen und Fazit</a:t>
            </a:r>
          </a:p>
          <a:p>
            <a:r>
              <a:rPr lang="de-DE" dirty="0"/>
              <a:t>Überwachung: risikoorientiert staffeln</a:t>
            </a:r>
          </a:p>
          <a:p>
            <a:r>
              <a:rPr lang="de-DE" dirty="0"/>
              <a:t>Pricing: klare Korridore je Note</a:t>
            </a:r>
          </a:p>
          <a:p>
            <a:r>
              <a:rPr lang="de-DE" dirty="0"/>
              <a:t>Reporting: monatlicher </a:t>
            </a:r>
            <a:r>
              <a:rPr lang="de-DE" dirty="0" err="1"/>
              <a:t>Red</a:t>
            </a:r>
            <a:r>
              <a:rPr lang="de-DE" dirty="0"/>
              <a:t>-</a:t>
            </a:r>
            <a:r>
              <a:rPr lang="de-DE" dirty="0" err="1"/>
              <a:t>Flag</a:t>
            </a:r>
            <a:r>
              <a:rPr lang="de-DE" dirty="0"/>
              <a:t>-Report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0F654E-5D5C-F7DC-533C-3A313A96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14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D8559B1-AF49-BE4A-0A6E-878F416C2CEF}"/>
              </a:ext>
            </a:extLst>
          </p:cNvPr>
          <p:cNvSpPr txBox="1"/>
          <p:nvPr/>
        </p:nvSpPr>
        <p:spPr>
          <a:xfrm>
            <a:off x="393031" y="5944822"/>
            <a:ext cx="60939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Gezielte Maßnahmen wie abgestufte Überwachung, striktes Pricing und regelmäßiges Reporting machen die Kreditvergabe effizienter und sicherer.</a:t>
            </a:r>
          </a:p>
        </p:txBody>
      </p:sp>
    </p:spTree>
    <p:extLst>
      <p:ext uri="{BB962C8B-B14F-4D97-AF65-F5344CB8AC3E}">
        <p14:creationId xmlns:p14="http://schemas.microsoft.com/office/powerpoint/2010/main" val="603114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6F68DA-51BD-0E07-A0A7-E90B822DF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Vielen Dank für Ihre Aufmerksamkeit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2F1BF2-61DD-1883-FA1D-DD1BFF7FE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1892" y="2247358"/>
            <a:ext cx="8596668" cy="844758"/>
          </a:xfrm>
        </p:spPr>
        <p:txBody>
          <a:bodyPr/>
          <a:lstStyle/>
          <a:p>
            <a:r>
              <a:rPr lang="de-DE" dirty="0"/>
              <a:t>Fragen und Diskussion willkommen.</a:t>
            </a:r>
          </a:p>
          <a:p>
            <a:r>
              <a:rPr lang="de-DE" dirty="0"/>
              <a:t>Kaffee geht auch </a:t>
            </a:r>
            <a:r>
              <a:rPr lang="de-DE" dirty="0">
                <a:sym typeface="Wingdings" panose="05000000000000000000" pitchFamily="2" charset="2"/>
              </a:rPr>
              <a:t>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FB5255-6294-F629-5C87-B2636138B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EC60-8865-4E9B-A27A-36A8A6A951F3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02555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1096</Words>
  <Application>Microsoft Office PowerPoint</Application>
  <PresentationFormat>Breitbild</PresentationFormat>
  <Paragraphs>130</Paragraphs>
  <Slides>15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1" baseType="lpstr">
      <vt:lpstr>Aptos</vt:lpstr>
      <vt:lpstr>Arial</vt:lpstr>
      <vt:lpstr>Trebuchet MS</vt:lpstr>
      <vt:lpstr>Wingdings</vt:lpstr>
      <vt:lpstr>Wingdings 3</vt:lpstr>
      <vt:lpstr>Facette</vt:lpstr>
      <vt:lpstr>Projekt A: Datenanalyse für Kreditrisiken Von den Rohdaten zur Management-Empfehlung</vt:lpstr>
      <vt:lpstr>Agenda</vt:lpstr>
      <vt:lpstr>Ausgangssituation</vt:lpstr>
      <vt:lpstr>Datenbereinigung</vt:lpstr>
      <vt:lpstr>Aufgabe 1: Kreditüberwachung</vt:lpstr>
      <vt:lpstr>Erkenntnisse zu Aufgabe 1</vt:lpstr>
      <vt:lpstr>Aufgabe 2: Kreditvergabe &amp; Pricing</vt:lpstr>
      <vt:lpstr>Ergebnisse Aufgabe 2 (Zinsen und Ausfälle)</vt:lpstr>
      <vt:lpstr>Zusatz-Insight: Einkommen je Risikoklasse</vt:lpstr>
      <vt:lpstr>Zusatz-Insight: Kreditvolumen je Note</vt:lpstr>
      <vt:lpstr>Zusatz-Insights: Wohnen</vt:lpstr>
      <vt:lpstr>Zusatz-Insights: Erfahrung</vt:lpstr>
      <vt:lpstr>Risiken &amp; Chancen</vt:lpstr>
      <vt:lpstr>Empfehlungen &amp; Fazit</vt:lpstr>
      <vt:lpstr>Vielen Dank für Ihre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Hornung</dc:creator>
  <cp:lastModifiedBy>Michael Hornung</cp:lastModifiedBy>
  <cp:revision>11</cp:revision>
  <dcterms:created xsi:type="dcterms:W3CDTF">2025-09-08T11:17:54Z</dcterms:created>
  <dcterms:modified xsi:type="dcterms:W3CDTF">2025-09-09T11:23:36Z</dcterms:modified>
</cp:coreProperties>
</file>